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64" r:id="rId8"/>
    <p:sldId id="265" r:id="rId9"/>
    <p:sldId id="266" r:id="rId10"/>
    <p:sldId id="260" r:id="rId11"/>
    <p:sldId id="267"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32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B5007F-3AB4-6A07-F532-A018D318231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A12285F-A1BE-64A5-8526-3273B28CA2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C0234D8-9A8E-689F-9A43-E6C93CD22EAD}"/>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5" name="页脚占位符 4">
            <a:extLst>
              <a:ext uri="{FF2B5EF4-FFF2-40B4-BE49-F238E27FC236}">
                <a16:creationId xmlns:a16="http://schemas.microsoft.com/office/drawing/2014/main" id="{29861B2A-B1C5-F36A-A6C1-0E151285BB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6DB9FA-7D86-5F70-7C44-7568C2E70FBE}"/>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330788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A2D67F-3027-8243-88C0-121685D301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211B09-212F-41FF-F130-525DDD598C8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EC0297-7F9D-C71D-52EA-C2E19DD14468}"/>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5" name="页脚占位符 4">
            <a:extLst>
              <a:ext uri="{FF2B5EF4-FFF2-40B4-BE49-F238E27FC236}">
                <a16:creationId xmlns:a16="http://schemas.microsoft.com/office/drawing/2014/main" id="{84D80E3D-6FCF-DCD3-50B6-5A7B6F125E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98AFFCD-568F-CE2C-902C-2983DD35E59B}"/>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1691846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FEEB3-2EDC-E90D-20C9-7F6B959B539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B1C28D3-8EF8-62E4-28F0-17616DDB49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3CCF35D-F796-5815-B5A8-54834327C9BF}"/>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5" name="页脚占位符 4">
            <a:extLst>
              <a:ext uri="{FF2B5EF4-FFF2-40B4-BE49-F238E27FC236}">
                <a16:creationId xmlns:a16="http://schemas.microsoft.com/office/drawing/2014/main" id="{072D6517-8ACE-B5F5-6ECE-83C44CCC58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971E5E-1C20-E8E1-15E6-219019C279DA}"/>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1527752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0BE09-50BD-CB8C-E931-40E1D8B5F8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E4AC180-5B67-B5D0-58AF-67B65821E7C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16CD2B-C099-5063-23FE-E0F98D0E99B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D7162E7-B6B2-1BD6-546D-64CBEF8765D2}"/>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6" name="页脚占位符 5">
            <a:extLst>
              <a:ext uri="{FF2B5EF4-FFF2-40B4-BE49-F238E27FC236}">
                <a16:creationId xmlns:a16="http://schemas.microsoft.com/office/drawing/2014/main" id="{E2637264-4DD8-8AFE-87A1-4ABF6770C2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7501844-EE04-16CB-58A7-42C4326DF08D}"/>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3870798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839355-194F-B4BE-DFC3-9ABB657D4F1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AF7DDBD-003A-B1C4-0641-2A9BF058FE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F77D7E7-C813-8FBF-109D-9C1FAA75B13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278499B-E738-F1EF-B4D1-5AC5E5E10F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F4DB410-D6D8-4475-3147-8B4C3F6141C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54DD29D-6196-3633-52CA-0B403624ED83}"/>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8" name="页脚占位符 7">
            <a:extLst>
              <a:ext uri="{FF2B5EF4-FFF2-40B4-BE49-F238E27FC236}">
                <a16:creationId xmlns:a16="http://schemas.microsoft.com/office/drawing/2014/main" id="{0EC852F9-7407-73E4-A653-553CF9D4F91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20F80BD-8425-4AC5-15BB-85363E372CEA}"/>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3042092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E87EA3-AAC1-8D35-3D76-2AB274591ED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B77241C-7CEF-AA19-8EB6-8630837DB7F9}"/>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4" name="页脚占位符 3">
            <a:extLst>
              <a:ext uri="{FF2B5EF4-FFF2-40B4-BE49-F238E27FC236}">
                <a16:creationId xmlns:a16="http://schemas.microsoft.com/office/drawing/2014/main" id="{3DFBF744-6771-A8DA-8F21-644D8850973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710CB97-85FA-850C-82B0-05E93619F43A}"/>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466859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E67003D-93FC-327D-46E8-0BD1BA1740EA}"/>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3" name="页脚占位符 2">
            <a:extLst>
              <a:ext uri="{FF2B5EF4-FFF2-40B4-BE49-F238E27FC236}">
                <a16:creationId xmlns:a16="http://schemas.microsoft.com/office/drawing/2014/main" id="{8D2302B8-1F17-A0B6-02FF-6528FE139F8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7345DF1-46BC-5D16-503B-ED1540E72378}"/>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1518259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EA6D74-2278-1E56-F7FA-8AD60559DBE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D71D010-BCB4-9BE2-8739-F5564C3F4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66FF4E2-7211-5D12-8D47-9E9BA0A518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56154DC-2157-E0AD-34AD-C3F17022B23B}"/>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6" name="页脚占位符 5">
            <a:extLst>
              <a:ext uri="{FF2B5EF4-FFF2-40B4-BE49-F238E27FC236}">
                <a16:creationId xmlns:a16="http://schemas.microsoft.com/office/drawing/2014/main" id="{B293A8EA-B3FC-580F-3D67-5D8CA14BE3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5DF0E4D-5C00-BEA3-63E5-AACF31DAE04A}"/>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2358151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A5E9F3-4C39-5F2D-2C81-E255F5CAEE4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C6FEC31-95BE-BD19-4B8B-232BABE0E9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440B045-01DC-3F0F-C100-A7A49D622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1C966E8-F0B7-9816-7219-ECAFFA849AB2}"/>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6" name="页脚占位符 5">
            <a:extLst>
              <a:ext uri="{FF2B5EF4-FFF2-40B4-BE49-F238E27FC236}">
                <a16:creationId xmlns:a16="http://schemas.microsoft.com/office/drawing/2014/main" id="{72B2A75E-84C4-998B-FE53-D9E55ED4C93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737417C-93AC-62D7-E6EC-D21D7C98840C}"/>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579412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6E1EE7-EC16-3F41-62E8-980A23B900E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07C542-86AD-4A97-3D04-C98665A55DF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1C0824-824E-6DED-A954-BC0649F6C4CA}"/>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5" name="页脚占位符 4">
            <a:extLst>
              <a:ext uri="{FF2B5EF4-FFF2-40B4-BE49-F238E27FC236}">
                <a16:creationId xmlns:a16="http://schemas.microsoft.com/office/drawing/2014/main" id="{E952AE29-AF4B-31B8-746C-488F17A76D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93E20B-653B-33EA-CDCA-06F0CE8ADCB9}"/>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1637906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EF1765B-BBD9-26D3-7837-C8AE2CB2BA0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0232842-B0CA-DB34-5A13-D08F620AFF0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1A24FD-FD98-0A58-770B-533703CF4CB8}"/>
              </a:ext>
            </a:extLst>
          </p:cNvPr>
          <p:cNvSpPr>
            <a:spLocks noGrp="1"/>
          </p:cNvSpPr>
          <p:nvPr>
            <p:ph type="dt" sz="half" idx="10"/>
          </p:nvPr>
        </p:nvSpPr>
        <p:spPr/>
        <p:txBody>
          <a:bodyPr/>
          <a:lstStyle/>
          <a:p>
            <a:fld id="{F424D0D1-6127-4D5D-B1A6-A46671498FA1}" type="datetimeFigureOut">
              <a:rPr lang="zh-CN" altLang="en-US" smtClean="0"/>
              <a:t>2025/6/30</a:t>
            </a:fld>
            <a:endParaRPr lang="zh-CN" altLang="en-US"/>
          </a:p>
        </p:txBody>
      </p:sp>
      <p:sp>
        <p:nvSpPr>
          <p:cNvPr id="5" name="页脚占位符 4">
            <a:extLst>
              <a:ext uri="{FF2B5EF4-FFF2-40B4-BE49-F238E27FC236}">
                <a16:creationId xmlns:a16="http://schemas.microsoft.com/office/drawing/2014/main" id="{CCFC2871-C340-5D0F-3DE5-C28C01B713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53D43D8-8C0E-7C39-0085-4BA84781C848}"/>
              </a:ext>
            </a:extLst>
          </p:cNvPr>
          <p:cNvSpPr>
            <a:spLocks noGrp="1"/>
          </p:cNvSpPr>
          <p:nvPr>
            <p:ph type="sldNum" sz="quarter" idx="12"/>
          </p:nvPr>
        </p:nvSpPr>
        <p:spPr/>
        <p:txBody>
          <a:body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2065161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DEFE18F-EB94-645B-EB29-C0673DE846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DF212F2-9291-2AD1-67F8-D5EC4B538D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69A8B7-7B3D-DDE8-EF46-5ABF7E48D4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24D0D1-6127-4D5D-B1A6-A46671498FA1}" type="datetimeFigureOut">
              <a:rPr lang="zh-CN" altLang="en-US" smtClean="0"/>
              <a:t>2025/6/30</a:t>
            </a:fld>
            <a:endParaRPr lang="zh-CN" altLang="en-US"/>
          </a:p>
        </p:txBody>
      </p:sp>
      <p:sp>
        <p:nvSpPr>
          <p:cNvPr id="5" name="页脚占位符 4">
            <a:extLst>
              <a:ext uri="{FF2B5EF4-FFF2-40B4-BE49-F238E27FC236}">
                <a16:creationId xmlns:a16="http://schemas.microsoft.com/office/drawing/2014/main" id="{6F192EF7-9CB9-1763-8BEC-ECAC4165F3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39484871-A58F-E5CE-AA5F-86A8C784BD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8D8EDD-018A-4076-AD65-E95AA773A072}" type="slidenum">
              <a:rPr lang="zh-CN" altLang="en-US" smtClean="0"/>
              <a:t>‹#›</a:t>
            </a:fld>
            <a:endParaRPr lang="zh-CN" altLang="en-US"/>
          </a:p>
        </p:txBody>
      </p:sp>
    </p:spTree>
    <p:extLst>
      <p:ext uri="{BB962C8B-B14F-4D97-AF65-F5344CB8AC3E}">
        <p14:creationId xmlns:p14="http://schemas.microsoft.com/office/powerpoint/2010/main" val="4124894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BE5CC7-0D19-3FE9-4873-7E8A27CC1FBB}"/>
              </a:ext>
            </a:extLst>
          </p:cNvPr>
          <p:cNvSpPr>
            <a:spLocks noGrp="1"/>
          </p:cNvSpPr>
          <p:nvPr>
            <p:ph type="ctrTitle"/>
          </p:nvPr>
        </p:nvSpPr>
        <p:spPr/>
        <p:txBody>
          <a:bodyPr/>
          <a:lstStyle/>
          <a:p>
            <a:r>
              <a:rPr lang="zh-CN" altLang="en-US" dirty="0"/>
              <a:t>操作系统内核开发日志</a:t>
            </a:r>
          </a:p>
        </p:txBody>
      </p:sp>
      <p:sp>
        <p:nvSpPr>
          <p:cNvPr id="3" name="副标题 2">
            <a:extLst>
              <a:ext uri="{FF2B5EF4-FFF2-40B4-BE49-F238E27FC236}">
                <a16:creationId xmlns:a16="http://schemas.microsoft.com/office/drawing/2014/main" id="{0ED7ED74-6162-605C-F043-0E3F5F59018F}"/>
              </a:ext>
            </a:extLst>
          </p:cNvPr>
          <p:cNvSpPr>
            <a:spLocks noGrp="1"/>
          </p:cNvSpPr>
          <p:nvPr>
            <p:ph type="subTitle" idx="1"/>
          </p:nvPr>
        </p:nvSpPr>
        <p:spPr/>
        <p:txBody>
          <a:bodyPr/>
          <a:lstStyle/>
          <a:p>
            <a:r>
              <a:rPr lang="zh-CN" altLang="en-US" dirty="0"/>
              <a:t>武汉大学</a:t>
            </a:r>
            <a:r>
              <a:rPr lang="en-US" altLang="zh-CN" dirty="0"/>
              <a:t>	</a:t>
            </a:r>
            <a:r>
              <a:rPr lang="en-US" altLang="zh-CN" dirty="0" err="1"/>
              <a:t>RuOK</a:t>
            </a:r>
            <a:r>
              <a:rPr lang="zh-CN" altLang="en-US" dirty="0"/>
              <a:t>队</a:t>
            </a:r>
          </a:p>
        </p:txBody>
      </p:sp>
    </p:spTree>
    <p:extLst>
      <p:ext uri="{BB962C8B-B14F-4D97-AF65-F5344CB8AC3E}">
        <p14:creationId xmlns:p14="http://schemas.microsoft.com/office/powerpoint/2010/main" val="3037505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F9BDC5-AC77-EB2F-0754-90BCEF2051C3}"/>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2DAA7B12-D6F1-FCF9-AB7C-C5850A501108}"/>
              </a:ext>
            </a:extLst>
          </p:cNvPr>
          <p:cNvSpPr>
            <a:spLocks noGrp="1"/>
          </p:cNvSpPr>
          <p:nvPr>
            <p:ph idx="1"/>
          </p:nvPr>
        </p:nvSpPr>
        <p:spPr/>
        <p:txBody>
          <a:bodyPr/>
          <a:lstStyle/>
          <a:p>
            <a:pPr marL="514350" indent="-514350">
              <a:lnSpc>
                <a:spcPct val="250000"/>
              </a:lnSpc>
              <a:buFont typeface="+mj-lt"/>
              <a:buAutoNum type="arabicPeriod"/>
            </a:pPr>
            <a:r>
              <a:rPr lang="zh-CN" altLang="en-US" dirty="0"/>
              <a:t>各个开发阶段概括与分析</a:t>
            </a:r>
            <a:endParaRPr lang="en-US" altLang="zh-CN" dirty="0"/>
          </a:p>
          <a:p>
            <a:pPr marL="514350" indent="-514350">
              <a:lnSpc>
                <a:spcPct val="250000"/>
              </a:lnSpc>
              <a:buFont typeface="+mj-lt"/>
              <a:buAutoNum type="arabicPeriod"/>
            </a:pPr>
            <a:r>
              <a:rPr lang="zh-CN" altLang="en-US" dirty="0"/>
              <a:t>总结</a:t>
            </a:r>
            <a:endParaRPr lang="en-US" altLang="zh-CN" dirty="0"/>
          </a:p>
        </p:txBody>
      </p:sp>
    </p:spTree>
    <p:extLst>
      <p:ext uri="{BB962C8B-B14F-4D97-AF65-F5344CB8AC3E}">
        <p14:creationId xmlns:p14="http://schemas.microsoft.com/office/powerpoint/2010/main" val="4261438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679263-C4E1-B7BB-D25A-C099A6E6B3BA}"/>
              </a:ext>
            </a:extLst>
          </p:cNvPr>
          <p:cNvSpPr>
            <a:spLocks noGrp="1"/>
          </p:cNvSpPr>
          <p:nvPr>
            <p:ph type="title"/>
          </p:nvPr>
        </p:nvSpPr>
        <p:spPr>
          <a:xfrm>
            <a:off x="838200" y="2766218"/>
            <a:ext cx="10515600" cy="1325563"/>
          </a:xfrm>
        </p:spPr>
        <p:txBody>
          <a:bodyPr/>
          <a:lstStyle/>
          <a:p>
            <a:pPr algn="ctr"/>
            <a:r>
              <a:rPr lang="en-US" altLang="zh-CN" dirty="0"/>
              <a:t>1.</a:t>
            </a:r>
            <a:r>
              <a:rPr lang="zh-CN" altLang="en-US" dirty="0"/>
              <a:t>开发阶段概括与分析</a:t>
            </a:r>
          </a:p>
        </p:txBody>
      </p:sp>
    </p:spTree>
    <p:extLst>
      <p:ext uri="{BB962C8B-B14F-4D97-AF65-F5344CB8AC3E}">
        <p14:creationId xmlns:p14="http://schemas.microsoft.com/office/powerpoint/2010/main" val="225111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625978E-7A46-1EA0-C0D9-7D88626CFAE8}"/>
              </a:ext>
            </a:extLst>
          </p:cNvPr>
          <p:cNvSpPr>
            <a:spLocks noGrp="1"/>
          </p:cNvSpPr>
          <p:nvPr>
            <p:ph idx="1"/>
          </p:nvPr>
        </p:nvSpPr>
        <p:spPr>
          <a:xfrm>
            <a:off x="838200" y="644236"/>
            <a:ext cx="10515600" cy="5532727"/>
          </a:xfrm>
        </p:spPr>
        <p:txBody>
          <a:bodyPr>
            <a:normAutofit lnSpcReduction="10000"/>
          </a:bodyPr>
          <a:lstStyle/>
          <a:p>
            <a:pPr>
              <a:lnSpc>
                <a:spcPct val="150000"/>
              </a:lnSpc>
            </a:pPr>
            <a:r>
              <a:rPr lang="zh-CN" altLang="en-US" dirty="0"/>
              <a:t>整体开发思路基于去年优秀作品，武汉大学“俺争取不掉队”开发的</a:t>
            </a:r>
            <a:r>
              <a:rPr lang="en-US" altLang="zh-CN" dirty="0"/>
              <a:t>XN6</a:t>
            </a:r>
            <a:r>
              <a:rPr lang="zh-CN" altLang="en-US" dirty="0"/>
              <a:t>，加入</a:t>
            </a:r>
            <a:r>
              <a:rPr lang="en-US" altLang="zh-CN" dirty="0"/>
              <a:t>RISC-V</a:t>
            </a:r>
            <a:r>
              <a:rPr lang="zh-CN" altLang="en-US" dirty="0"/>
              <a:t>框架，同时添加系统调用、修复原有问题和完善不合理之处，已经初步满足竞赛要求。</a:t>
            </a:r>
            <a:endParaRPr lang="en-US" altLang="zh-CN" dirty="0"/>
          </a:p>
          <a:p>
            <a:pPr>
              <a:lnSpc>
                <a:spcPct val="150000"/>
              </a:lnSpc>
            </a:pPr>
            <a:r>
              <a:rPr lang="zh-CN" altLang="en-US" dirty="0"/>
              <a:t>经过整理，我们的开发可以分成以下</a:t>
            </a:r>
            <a:r>
              <a:rPr lang="en-US" altLang="zh-CN" dirty="0"/>
              <a:t>5</a:t>
            </a:r>
            <a:r>
              <a:rPr lang="zh-CN" altLang="en-US" dirty="0"/>
              <a:t>个阶段：</a:t>
            </a:r>
            <a:endParaRPr lang="en-US" altLang="zh-CN" dirty="0"/>
          </a:p>
          <a:p>
            <a:pPr lvl="1">
              <a:lnSpc>
                <a:spcPct val="150000"/>
              </a:lnSpc>
            </a:pPr>
            <a:r>
              <a:rPr lang="en-US" altLang="zh-CN" dirty="0"/>
              <a:t>1.</a:t>
            </a:r>
            <a:r>
              <a:rPr lang="zh-CN" altLang="en-US" dirty="0"/>
              <a:t>初始架构与基础移植阶段</a:t>
            </a:r>
            <a:endParaRPr lang="en-US" altLang="zh-CN" dirty="0"/>
          </a:p>
          <a:p>
            <a:pPr lvl="1">
              <a:lnSpc>
                <a:spcPct val="150000"/>
              </a:lnSpc>
            </a:pPr>
            <a:r>
              <a:rPr lang="en-US" altLang="zh-CN" dirty="0"/>
              <a:t>2. </a:t>
            </a:r>
            <a:r>
              <a:rPr lang="zh-CN" altLang="en-US" dirty="0"/>
              <a:t>内核功能完善与兼容性阶段</a:t>
            </a:r>
            <a:endParaRPr lang="en-US" altLang="zh-CN" dirty="0"/>
          </a:p>
          <a:p>
            <a:pPr lvl="1">
              <a:lnSpc>
                <a:spcPct val="150000"/>
              </a:lnSpc>
            </a:pPr>
            <a:r>
              <a:rPr lang="en-US" altLang="zh-CN" dirty="0"/>
              <a:t>3. </a:t>
            </a:r>
            <a:r>
              <a:rPr lang="zh-CN" altLang="en-US" dirty="0"/>
              <a:t>文件系统与多进程</a:t>
            </a:r>
            <a:r>
              <a:rPr lang="en-US" altLang="zh-CN" dirty="0"/>
              <a:t>/</a:t>
            </a:r>
            <a:r>
              <a:rPr lang="zh-CN" altLang="en-US" dirty="0"/>
              <a:t>多线程支持阶段</a:t>
            </a:r>
            <a:endParaRPr lang="en-US" altLang="zh-CN" dirty="0"/>
          </a:p>
          <a:p>
            <a:pPr lvl="1">
              <a:lnSpc>
                <a:spcPct val="150000"/>
              </a:lnSpc>
            </a:pPr>
            <a:r>
              <a:rPr lang="en-US" altLang="zh-CN" dirty="0"/>
              <a:t>4. </a:t>
            </a:r>
            <a:r>
              <a:rPr lang="zh-CN" altLang="en-US" dirty="0"/>
              <a:t>测试点攻关与稳定性提升阶段</a:t>
            </a:r>
            <a:endParaRPr lang="en-US" altLang="zh-CN" dirty="0"/>
          </a:p>
          <a:p>
            <a:pPr lvl="1">
              <a:lnSpc>
                <a:spcPct val="150000"/>
              </a:lnSpc>
            </a:pPr>
            <a:r>
              <a:rPr lang="en-US" altLang="zh-CN" dirty="0"/>
              <a:t>5. </a:t>
            </a:r>
            <a:r>
              <a:rPr lang="zh-CN" altLang="en-US" dirty="0"/>
              <a:t>收尾与提测阶段</a:t>
            </a:r>
            <a:endParaRPr lang="en-US" altLang="zh-CN" dirty="0"/>
          </a:p>
          <a:p>
            <a:pPr>
              <a:lnSpc>
                <a:spcPct val="150000"/>
              </a:lnSpc>
            </a:pPr>
            <a:endParaRPr lang="zh-CN" altLang="en-US" dirty="0"/>
          </a:p>
        </p:txBody>
      </p:sp>
    </p:spTree>
    <p:extLst>
      <p:ext uri="{BB962C8B-B14F-4D97-AF65-F5344CB8AC3E}">
        <p14:creationId xmlns:p14="http://schemas.microsoft.com/office/powerpoint/2010/main" val="2569318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BD4F3C-4300-80FB-5D50-9F6DBB56BA51}"/>
              </a:ext>
            </a:extLst>
          </p:cNvPr>
          <p:cNvSpPr>
            <a:spLocks noGrp="1"/>
          </p:cNvSpPr>
          <p:nvPr>
            <p:ph type="title"/>
          </p:nvPr>
        </p:nvSpPr>
        <p:spPr/>
        <p:txBody>
          <a:bodyPr/>
          <a:lstStyle/>
          <a:p>
            <a:r>
              <a:rPr lang="en-US" altLang="zh-CN" dirty="0"/>
              <a:t>1.</a:t>
            </a:r>
            <a:r>
              <a:rPr lang="zh-CN" altLang="en-US" dirty="0"/>
              <a:t>初始架构与基础移植阶段</a:t>
            </a:r>
          </a:p>
        </p:txBody>
      </p:sp>
      <p:sp>
        <p:nvSpPr>
          <p:cNvPr id="3" name="内容占位符 2">
            <a:extLst>
              <a:ext uri="{FF2B5EF4-FFF2-40B4-BE49-F238E27FC236}">
                <a16:creationId xmlns:a16="http://schemas.microsoft.com/office/drawing/2014/main" id="{AC91CE24-B820-6A5F-D4CC-6CCF26CC8A73}"/>
              </a:ext>
            </a:extLst>
          </p:cNvPr>
          <p:cNvSpPr>
            <a:spLocks noGrp="1"/>
          </p:cNvSpPr>
          <p:nvPr>
            <p:ph idx="1"/>
          </p:nvPr>
        </p:nvSpPr>
        <p:spPr>
          <a:xfrm>
            <a:off x="838200" y="1825624"/>
            <a:ext cx="10893136" cy="4782993"/>
          </a:xfrm>
        </p:spPr>
        <p:txBody>
          <a:bodyPr>
            <a:normAutofit fontScale="85000" lnSpcReduction="10000"/>
          </a:bodyPr>
          <a:lstStyle/>
          <a:p>
            <a:pPr marL="0" indent="0">
              <a:lnSpc>
                <a:spcPct val="150000"/>
              </a:lnSpc>
              <a:buNone/>
            </a:pPr>
            <a:r>
              <a:rPr lang="zh-CN" altLang="en-US" dirty="0"/>
              <a:t>集中在</a:t>
            </a:r>
            <a:r>
              <a:rPr lang="en-US" altLang="zh-CN" dirty="0"/>
              <a:t>3</a:t>
            </a:r>
            <a:r>
              <a:rPr lang="zh-CN" altLang="en-US" dirty="0"/>
              <a:t>月</a:t>
            </a:r>
            <a:r>
              <a:rPr lang="en-US" altLang="zh-CN" dirty="0"/>
              <a:t>10</a:t>
            </a:r>
            <a:r>
              <a:rPr lang="zh-CN" altLang="en-US" dirty="0"/>
              <a:t>日 </a:t>
            </a:r>
            <a:r>
              <a:rPr lang="en-US" altLang="zh-CN" dirty="0"/>
              <a:t>~ 3</a:t>
            </a:r>
            <a:r>
              <a:rPr lang="zh-CN" altLang="en-US" dirty="0"/>
              <a:t>月中旬</a:t>
            </a:r>
          </a:p>
          <a:p>
            <a:pPr marL="0" indent="0">
              <a:lnSpc>
                <a:spcPct val="150000"/>
              </a:lnSpc>
              <a:buNone/>
            </a:pPr>
            <a:r>
              <a:rPr lang="zh-CN" altLang="en-US" b="1" dirty="0"/>
              <a:t>主要任务</a:t>
            </a:r>
            <a:r>
              <a:rPr lang="zh-CN" altLang="en-US" dirty="0"/>
              <a:t>：</a:t>
            </a:r>
          </a:p>
          <a:p>
            <a:pPr marL="0" indent="0">
              <a:lnSpc>
                <a:spcPct val="150000"/>
              </a:lnSpc>
              <a:buNone/>
            </a:pPr>
            <a:r>
              <a:rPr lang="zh-CN" altLang="en-US" dirty="0"/>
              <a:t>  </a:t>
            </a:r>
            <a:r>
              <a:rPr lang="en-US" altLang="zh-CN" dirty="0"/>
              <a:t>- </a:t>
            </a:r>
            <a:r>
              <a:rPr lang="zh-CN" altLang="en-US" dirty="0"/>
              <a:t>增加</a:t>
            </a:r>
            <a:r>
              <a:rPr lang="en-US" altLang="zh-CN" dirty="0"/>
              <a:t>RISC-V</a:t>
            </a:r>
            <a:r>
              <a:rPr lang="zh-CN" altLang="en-US" dirty="0"/>
              <a:t>架构支持（</a:t>
            </a:r>
            <a:r>
              <a:rPr lang="en-US" altLang="zh-CN" dirty="0"/>
              <a:t>v0.1~v0.5</a:t>
            </a:r>
            <a:r>
              <a:rPr lang="zh-CN" altLang="en-US" dirty="0"/>
              <a:t>），初步引入</a:t>
            </a:r>
            <a:r>
              <a:rPr lang="en-US" altLang="zh-CN" dirty="0" err="1"/>
              <a:t>rustsbi</a:t>
            </a:r>
            <a:r>
              <a:rPr lang="zh-CN" altLang="en-US" dirty="0"/>
              <a:t>和第三方库。</a:t>
            </a:r>
          </a:p>
          <a:p>
            <a:pPr marL="0" indent="0">
              <a:lnSpc>
                <a:spcPct val="150000"/>
              </a:lnSpc>
              <a:buNone/>
            </a:pPr>
            <a:r>
              <a:rPr lang="zh-CN" altLang="en-US" dirty="0"/>
              <a:t>  </a:t>
            </a:r>
            <a:r>
              <a:rPr lang="en-US" altLang="zh-CN" dirty="0"/>
              <a:t>- </a:t>
            </a:r>
            <a:r>
              <a:rPr lang="zh-CN" altLang="en-US" dirty="0"/>
              <a:t>完成</a:t>
            </a:r>
            <a:r>
              <a:rPr lang="en-US" altLang="zh-CN" dirty="0" err="1"/>
              <a:t>riscv-qemu</a:t>
            </a:r>
            <a:r>
              <a:rPr lang="en-US" altLang="zh-CN" dirty="0"/>
              <a:t>/k210</a:t>
            </a:r>
            <a:r>
              <a:rPr lang="zh-CN" altLang="en-US" dirty="0"/>
              <a:t>的编译适配，解决页表、用户空间切换等底层问题。</a:t>
            </a:r>
          </a:p>
          <a:p>
            <a:pPr marL="0" indent="0">
              <a:lnSpc>
                <a:spcPct val="150000"/>
              </a:lnSpc>
              <a:buNone/>
            </a:pPr>
            <a:r>
              <a:rPr lang="zh-CN" altLang="en-US" dirty="0"/>
              <a:t>  </a:t>
            </a:r>
            <a:r>
              <a:rPr lang="en-US" altLang="zh-CN" dirty="0"/>
              <a:t>- </a:t>
            </a:r>
            <a:r>
              <a:rPr lang="zh-CN" altLang="en-US" dirty="0"/>
              <a:t>增加基础外设驱动（如</a:t>
            </a:r>
            <a:r>
              <a:rPr lang="en-US" altLang="zh-CN" dirty="0" err="1"/>
              <a:t>uart</a:t>
            </a:r>
            <a:r>
              <a:rPr lang="zh-CN" altLang="en-US" dirty="0"/>
              <a:t>），修复</a:t>
            </a:r>
            <a:r>
              <a:rPr lang="en-US" altLang="zh-CN" dirty="0" err="1"/>
              <a:t>virtio</a:t>
            </a:r>
            <a:r>
              <a:rPr lang="zh-CN" altLang="en-US" dirty="0"/>
              <a:t>、</a:t>
            </a:r>
            <a:r>
              <a:rPr lang="en-US" altLang="zh-CN" dirty="0" err="1"/>
              <a:t>uart</a:t>
            </a:r>
            <a:r>
              <a:rPr lang="zh-CN" altLang="en-US" dirty="0"/>
              <a:t>中断等关键硬件抽象问题。</a:t>
            </a:r>
          </a:p>
          <a:p>
            <a:pPr marL="0" indent="0">
              <a:lnSpc>
                <a:spcPct val="150000"/>
              </a:lnSpc>
              <a:buNone/>
            </a:pPr>
            <a:r>
              <a:rPr lang="zh-CN" altLang="en-US" dirty="0"/>
              <a:t>  </a:t>
            </a:r>
            <a:r>
              <a:rPr lang="en-US" altLang="zh-CN" dirty="0"/>
              <a:t>- </a:t>
            </a:r>
            <a:r>
              <a:rPr lang="zh-CN" altLang="en-US" dirty="0"/>
              <a:t>合并</a:t>
            </a:r>
            <a:r>
              <a:rPr lang="en-US" altLang="zh-CN" dirty="0" err="1"/>
              <a:t>loongarch</a:t>
            </a:r>
            <a:r>
              <a:rPr lang="zh-CN" altLang="en-US" dirty="0"/>
              <a:t>分支，完成</a:t>
            </a:r>
            <a:r>
              <a:rPr lang="en-US" altLang="zh-CN" dirty="0" err="1"/>
              <a:t>loongarch</a:t>
            </a:r>
            <a:r>
              <a:rPr lang="zh-CN" altLang="en-US" dirty="0"/>
              <a:t>和</a:t>
            </a:r>
            <a:r>
              <a:rPr lang="en-US" altLang="zh-CN" dirty="0" err="1"/>
              <a:t>riscv</a:t>
            </a:r>
            <a:r>
              <a:rPr lang="zh-CN" altLang="en-US" dirty="0"/>
              <a:t>的基础运行。</a:t>
            </a:r>
          </a:p>
        </p:txBody>
      </p:sp>
    </p:spTree>
    <p:extLst>
      <p:ext uri="{BB962C8B-B14F-4D97-AF65-F5344CB8AC3E}">
        <p14:creationId xmlns:p14="http://schemas.microsoft.com/office/powerpoint/2010/main" val="415440070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030FE-0E12-3CA1-3770-0692636C11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59AC8A-7FD4-797B-00A6-7B88693F2891}"/>
              </a:ext>
            </a:extLst>
          </p:cNvPr>
          <p:cNvSpPr>
            <a:spLocks noGrp="1"/>
          </p:cNvSpPr>
          <p:nvPr>
            <p:ph type="title"/>
          </p:nvPr>
        </p:nvSpPr>
        <p:spPr/>
        <p:txBody>
          <a:bodyPr>
            <a:normAutofit/>
          </a:bodyPr>
          <a:lstStyle/>
          <a:p>
            <a:pPr lvl="1">
              <a:lnSpc>
                <a:spcPct val="150000"/>
              </a:lnSpc>
            </a:pPr>
            <a:r>
              <a:rPr lang="en-US" altLang="zh-CN" sz="4400" dirty="0">
                <a:latin typeface="+mj-lt"/>
              </a:rPr>
              <a:t>2. </a:t>
            </a:r>
            <a:r>
              <a:rPr lang="zh-CN" altLang="en-US" sz="4400" dirty="0">
                <a:latin typeface="+mj-lt"/>
              </a:rPr>
              <a:t>内核功能完善与兼容性阶段</a:t>
            </a:r>
            <a:endParaRPr lang="en-US" altLang="zh-CN" sz="4400" dirty="0">
              <a:latin typeface="+mj-lt"/>
            </a:endParaRPr>
          </a:p>
        </p:txBody>
      </p:sp>
      <p:sp>
        <p:nvSpPr>
          <p:cNvPr id="3" name="内容占位符 2">
            <a:extLst>
              <a:ext uri="{FF2B5EF4-FFF2-40B4-BE49-F238E27FC236}">
                <a16:creationId xmlns:a16="http://schemas.microsoft.com/office/drawing/2014/main" id="{26967F52-6F8C-C9CD-435D-56AED8568405}"/>
              </a:ext>
            </a:extLst>
          </p:cNvPr>
          <p:cNvSpPr>
            <a:spLocks noGrp="1"/>
          </p:cNvSpPr>
          <p:nvPr>
            <p:ph idx="1"/>
          </p:nvPr>
        </p:nvSpPr>
        <p:spPr>
          <a:xfrm>
            <a:off x="838200" y="1825624"/>
            <a:ext cx="10893136" cy="4782993"/>
          </a:xfrm>
        </p:spPr>
        <p:txBody>
          <a:bodyPr>
            <a:normAutofit fontScale="85000" lnSpcReduction="10000"/>
          </a:bodyPr>
          <a:lstStyle/>
          <a:p>
            <a:pPr marL="0" indent="0">
              <a:lnSpc>
                <a:spcPct val="150000"/>
              </a:lnSpc>
              <a:buNone/>
            </a:pPr>
            <a:r>
              <a:rPr lang="zh-CN" altLang="en-US" dirty="0"/>
              <a:t>集中在</a:t>
            </a:r>
            <a:r>
              <a:rPr lang="en-US" altLang="zh-CN" dirty="0"/>
              <a:t>3</a:t>
            </a:r>
            <a:r>
              <a:rPr lang="zh-CN" altLang="en-US" dirty="0"/>
              <a:t>月下旬 </a:t>
            </a:r>
            <a:r>
              <a:rPr lang="en-US" altLang="zh-CN" dirty="0"/>
              <a:t>~ 5</a:t>
            </a:r>
            <a:r>
              <a:rPr lang="zh-CN" altLang="en-US" dirty="0"/>
              <a:t>月中旬</a:t>
            </a:r>
          </a:p>
          <a:p>
            <a:pPr marL="0" indent="0">
              <a:lnSpc>
                <a:spcPct val="150000"/>
              </a:lnSpc>
              <a:buNone/>
            </a:pPr>
            <a:r>
              <a:rPr lang="zh-CN" altLang="en-US" b="1" dirty="0"/>
              <a:t>主要任务</a:t>
            </a:r>
            <a:r>
              <a:rPr lang="zh-CN" altLang="en-US" dirty="0"/>
              <a:t>：</a:t>
            </a:r>
          </a:p>
          <a:p>
            <a:pPr>
              <a:lnSpc>
                <a:spcPct val="150000"/>
              </a:lnSpc>
            </a:pPr>
            <a:r>
              <a:rPr lang="zh-CN" altLang="en-US" dirty="0"/>
              <a:t>完善进程管理（</a:t>
            </a:r>
            <a:r>
              <a:rPr lang="en-US" altLang="zh-CN" dirty="0"/>
              <a:t>fork</a:t>
            </a:r>
            <a:r>
              <a:rPr lang="zh-CN" altLang="en-US" dirty="0"/>
              <a:t>、</a:t>
            </a:r>
            <a:r>
              <a:rPr lang="en-US" altLang="zh-CN" dirty="0" err="1"/>
              <a:t>execve</a:t>
            </a:r>
            <a:r>
              <a:rPr lang="zh-CN" altLang="en-US" dirty="0"/>
              <a:t>、</a:t>
            </a:r>
            <a:r>
              <a:rPr lang="en-US" altLang="zh-CN" dirty="0" err="1"/>
              <a:t>waitpid</a:t>
            </a:r>
            <a:r>
              <a:rPr lang="zh-CN" altLang="en-US" dirty="0"/>
              <a:t>等），修复内存回收、页表等问题。</a:t>
            </a:r>
          </a:p>
          <a:p>
            <a:pPr>
              <a:lnSpc>
                <a:spcPct val="150000"/>
              </a:lnSpc>
            </a:pPr>
            <a:r>
              <a:rPr lang="zh-CN" altLang="en-US" dirty="0"/>
              <a:t>支持</a:t>
            </a:r>
            <a:r>
              <a:rPr lang="en-US" altLang="zh-CN" dirty="0" err="1"/>
              <a:t>busybox</a:t>
            </a:r>
            <a:r>
              <a:rPr lang="zh-CN" altLang="en-US" dirty="0"/>
              <a:t>、完善</a:t>
            </a:r>
            <a:r>
              <a:rPr lang="en-US" altLang="zh-CN" dirty="0" err="1"/>
              <a:t>user_init</a:t>
            </a:r>
            <a:r>
              <a:rPr lang="zh-CN" altLang="en-US" dirty="0"/>
              <a:t>，适配多种用户程序。</a:t>
            </a:r>
          </a:p>
          <a:p>
            <a:pPr>
              <a:lnSpc>
                <a:spcPct val="150000"/>
              </a:lnSpc>
            </a:pPr>
            <a:r>
              <a:rPr lang="zh-CN" altLang="en-US" dirty="0"/>
              <a:t>增加和完善系统调用（如</a:t>
            </a:r>
            <a:r>
              <a:rPr lang="en-US" altLang="zh-CN" dirty="0"/>
              <a:t>kill</a:t>
            </a:r>
            <a:r>
              <a:rPr lang="zh-CN" altLang="en-US" dirty="0"/>
              <a:t>、</a:t>
            </a:r>
            <a:r>
              <a:rPr lang="en-US" altLang="zh-CN" dirty="0" err="1"/>
              <a:t>mmap</a:t>
            </a:r>
            <a:r>
              <a:rPr lang="zh-CN" altLang="en-US" dirty="0"/>
              <a:t>、</a:t>
            </a:r>
            <a:r>
              <a:rPr lang="en-US" altLang="zh-CN" dirty="0" err="1"/>
              <a:t>munmap</a:t>
            </a:r>
            <a:r>
              <a:rPr lang="zh-CN" altLang="en-US" dirty="0"/>
              <a:t>、</a:t>
            </a:r>
            <a:r>
              <a:rPr lang="en-US" altLang="zh-CN" dirty="0" err="1"/>
              <a:t>fstatat</a:t>
            </a:r>
            <a:r>
              <a:rPr lang="zh-CN" altLang="en-US" dirty="0"/>
              <a:t>、</a:t>
            </a:r>
            <a:r>
              <a:rPr lang="en-US" altLang="zh-CN" dirty="0" err="1"/>
              <a:t>ioctl</a:t>
            </a:r>
            <a:r>
              <a:rPr lang="zh-CN" altLang="en-US" dirty="0"/>
              <a:t>、</a:t>
            </a:r>
            <a:r>
              <a:rPr lang="en-US" altLang="zh-CN" dirty="0" err="1"/>
              <a:t>fcntl</a:t>
            </a:r>
            <a:r>
              <a:rPr lang="zh-CN" altLang="en-US" dirty="0"/>
              <a:t>等）。</a:t>
            </a:r>
          </a:p>
          <a:p>
            <a:pPr>
              <a:lnSpc>
                <a:spcPct val="150000"/>
              </a:lnSpc>
            </a:pPr>
            <a:r>
              <a:rPr lang="zh-CN" altLang="en-US" dirty="0"/>
              <a:t>完善文件系统相关功能，修复</a:t>
            </a:r>
            <a:r>
              <a:rPr lang="en-US" altLang="zh-CN" dirty="0"/>
              <a:t>mount</a:t>
            </a:r>
            <a:r>
              <a:rPr lang="zh-CN" altLang="en-US" dirty="0"/>
              <a:t>、</a:t>
            </a:r>
            <a:r>
              <a:rPr lang="en-US" altLang="zh-CN" dirty="0" err="1"/>
              <a:t>umount</a:t>
            </a:r>
            <a:r>
              <a:rPr lang="zh-CN" altLang="en-US" dirty="0"/>
              <a:t>、</a:t>
            </a:r>
            <a:r>
              <a:rPr lang="en-US" altLang="zh-CN" dirty="0"/>
              <a:t>pipe</a:t>
            </a:r>
            <a:r>
              <a:rPr lang="zh-CN" altLang="en-US" dirty="0"/>
              <a:t>等</a:t>
            </a:r>
            <a:r>
              <a:rPr lang="en-US" altLang="zh-CN" dirty="0"/>
              <a:t>bug</a:t>
            </a:r>
            <a:r>
              <a:rPr lang="zh-CN" altLang="en-US" dirty="0"/>
              <a:t>。</a:t>
            </a:r>
          </a:p>
          <a:p>
            <a:pPr>
              <a:lnSpc>
                <a:spcPct val="150000"/>
              </a:lnSpc>
            </a:pPr>
            <a:r>
              <a:rPr lang="zh-CN" altLang="en-US" dirty="0"/>
              <a:t>适配和优化</a:t>
            </a:r>
            <a:r>
              <a:rPr lang="en-US" altLang="zh-CN" dirty="0" err="1"/>
              <a:t>loongarch</a:t>
            </a:r>
            <a:r>
              <a:rPr lang="zh-CN" altLang="en-US" dirty="0"/>
              <a:t>、</a:t>
            </a:r>
            <a:r>
              <a:rPr lang="en-US" altLang="zh-CN" dirty="0" err="1"/>
              <a:t>riscv</a:t>
            </a:r>
            <a:r>
              <a:rPr lang="zh-CN" altLang="en-US" dirty="0"/>
              <a:t>双平台，解决概率性崩溃和兼容性问题。</a:t>
            </a:r>
          </a:p>
          <a:p>
            <a:pPr>
              <a:lnSpc>
                <a:spcPct val="150000"/>
              </a:lnSpc>
            </a:pPr>
            <a:endParaRPr lang="zh-CN" altLang="en-US" dirty="0"/>
          </a:p>
        </p:txBody>
      </p:sp>
    </p:spTree>
    <p:extLst>
      <p:ext uri="{BB962C8B-B14F-4D97-AF65-F5344CB8AC3E}">
        <p14:creationId xmlns:p14="http://schemas.microsoft.com/office/powerpoint/2010/main" val="3557137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1B5FA-E70E-7C94-B9B8-AA7D0A39E67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C009469-A497-A2BE-4C7A-3F87D89081DB}"/>
              </a:ext>
            </a:extLst>
          </p:cNvPr>
          <p:cNvSpPr>
            <a:spLocks noGrp="1"/>
          </p:cNvSpPr>
          <p:nvPr>
            <p:ph type="title"/>
          </p:nvPr>
        </p:nvSpPr>
        <p:spPr/>
        <p:txBody>
          <a:bodyPr>
            <a:normAutofit/>
          </a:bodyPr>
          <a:lstStyle/>
          <a:p>
            <a:pPr lvl="1">
              <a:lnSpc>
                <a:spcPct val="150000"/>
              </a:lnSpc>
            </a:pPr>
            <a:r>
              <a:rPr lang="en-US" altLang="zh-CN" sz="4400" dirty="0">
                <a:latin typeface="+mj-lt"/>
              </a:rPr>
              <a:t>3. </a:t>
            </a:r>
            <a:r>
              <a:rPr lang="zh-CN" altLang="en-US" sz="4400" dirty="0">
                <a:latin typeface="+mj-lt"/>
              </a:rPr>
              <a:t>文件系统与多进程</a:t>
            </a:r>
            <a:r>
              <a:rPr lang="en-US" altLang="zh-CN" sz="4400" dirty="0">
                <a:latin typeface="+mj-lt"/>
              </a:rPr>
              <a:t>/</a:t>
            </a:r>
            <a:r>
              <a:rPr lang="zh-CN" altLang="en-US" sz="4400" dirty="0">
                <a:latin typeface="+mj-lt"/>
              </a:rPr>
              <a:t>多线程支持阶段</a:t>
            </a:r>
            <a:endParaRPr lang="en-US" altLang="zh-CN" sz="4400" dirty="0">
              <a:latin typeface="+mj-lt"/>
            </a:endParaRPr>
          </a:p>
        </p:txBody>
      </p:sp>
      <p:sp>
        <p:nvSpPr>
          <p:cNvPr id="3" name="内容占位符 2">
            <a:extLst>
              <a:ext uri="{FF2B5EF4-FFF2-40B4-BE49-F238E27FC236}">
                <a16:creationId xmlns:a16="http://schemas.microsoft.com/office/drawing/2014/main" id="{CDC9A9F0-0154-908C-60F4-5F4B4406DD8E}"/>
              </a:ext>
            </a:extLst>
          </p:cNvPr>
          <p:cNvSpPr>
            <a:spLocks noGrp="1"/>
          </p:cNvSpPr>
          <p:nvPr>
            <p:ph idx="1"/>
          </p:nvPr>
        </p:nvSpPr>
        <p:spPr>
          <a:xfrm>
            <a:off x="838200" y="1825624"/>
            <a:ext cx="10893136" cy="4782993"/>
          </a:xfrm>
        </p:spPr>
        <p:txBody>
          <a:bodyPr>
            <a:normAutofit fontScale="92500" lnSpcReduction="20000"/>
          </a:bodyPr>
          <a:lstStyle/>
          <a:p>
            <a:pPr marL="0" indent="0">
              <a:lnSpc>
                <a:spcPct val="160000"/>
              </a:lnSpc>
              <a:buNone/>
            </a:pPr>
            <a:r>
              <a:rPr lang="zh-CN" altLang="en-US" dirty="0"/>
              <a:t>集中在</a:t>
            </a:r>
            <a:r>
              <a:rPr lang="en-US" altLang="zh-CN" dirty="0"/>
              <a:t>5</a:t>
            </a:r>
            <a:r>
              <a:rPr lang="zh-CN" altLang="en-US" dirty="0"/>
              <a:t>月中旬 </a:t>
            </a:r>
            <a:r>
              <a:rPr lang="en-US" altLang="zh-CN" dirty="0"/>
              <a:t>~ 6</a:t>
            </a:r>
            <a:r>
              <a:rPr lang="zh-CN" altLang="en-US" dirty="0"/>
              <a:t>月中旬</a:t>
            </a:r>
          </a:p>
          <a:p>
            <a:pPr marL="0" indent="0">
              <a:lnSpc>
                <a:spcPct val="160000"/>
              </a:lnSpc>
              <a:buNone/>
            </a:pPr>
            <a:r>
              <a:rPr lang="zh-CN" altLang="en-US" b="1" dirty="0"/>
              <a:t>主要任务</a:t>
            </a:r>
            <a:r>
              <a:rPr lang="zh-CN" altLang="en-US" dirty="0"/>
              <a:t>：</a:t>
            </a:r>
          </a:p>
          <a:p>
            <a:pPr marL="0" indent="0">
              <a:lnSpc>
                <a:spcPct val="160000"/>
              </a:lnSpc>
              <a:buNone/>
            </a:pPr>
            <a:r>
              <a:rPr lang="zh-CN" altLang="en-US" dirty="0"/>
              <a:t>  </a:t>
            </a:r>
            <a:r>
              <a:rPr lang="en-US" altLang="zh-CN" dirty="0"/>
              <a:t>- </a:t>
            </a:r>
            <a:r>
              <a:rPr lang="zh-CN" altLang="en-US" dirty="0"/>
              <a:t>深化文件系统实现，支持</a:t>
            </a:r>
            <a:r>
              <a:rPr lang="en-US" altLang="zh-CN" dirty="0" err="1"/>
              <a:t>htree</a:t>
            </a:r>
            <a:r>
              <a:rPr lang="zh-CN" altLang="en-US" dirty="0"/>
              <a:t>目录项、</a:t>
            </a:r>
            <a:r>
              <a:rPr lang="en-US" altLang="zh-CN" dirty="0" err="1"/>
              <a:t>ramnode</a:t>
            </a:r>
            <a:r>
              <a:rPr lang="zh-CN" altLang="en-US" dirty="0"/>
              <a:t>节点、</a:t>
            </a:r>
            <a:r>
              <a:rPr lang="en-US" altLang="zh-CN" dirty="0"/>
              <a:t>pipe</a:t>
            </a:r>
            <a:r>
              <a:rPr lang="zh-CN" altLang="en-US" dirty="0"/>
              <a:t>缓冲区自实现等。</a:t>
            </a:r>
          </a:p>
          <a:p>
            <a:pPr marL="0" indent="0">
              <a:lnSpc>
                <a:spcPct val="160000"/>
              </a:lnSpc>
              <a:buNone/>
            </a:pPr>
            <a:r>
              <a:rPr lang="zh-CN" altLang="en-US" dirty="0"/>
              <a:t>  </a:t>
            </a:r>
            <a:r>
              <a:rPr lang="en-US" altLang="zh-CN" dirty="0"/>
              <a:t>- </a:t>
            </a:r>
            <a:r>
              <a:rPr lang="zh-CN" altLang="en-US" dirty="0"/>
              <a:t>修复文件读写、目录查找、</a:t>
            </a:r>
            <a:r>
              <a:rPr lang="en-US" altLang="zh-CN" dirty="0" err="1"/>
              <a:t>dentry</a:t>
            </a:r>
            <a:r>
              <a:rPr lang="zh-CN" altLang="en-US" dirty="0"/>
              <a:t>复用等复杂</a:t>
            </a:r>
            <a:r>
              <a:rPr lang="en-US" altLang="zh-CN" dirty="0"/>
              <a:t>bug</a:t>
            </a:r>
            <a:r>
              <a:rPr lang="zh-CN" altLang="en-US" dirty="0"/>
              <a:t>。</a:t>
            </a:r>
          </a:p>
          <a:p>
            <a:pPr marL="0" indent="0">
              <a:lnSpc>
                <a:spcPct val="160000"/>
              </a:lnSpc>
              <a:buNone/>
            </a:pPr>
            <a:r>
              <a:rPr lang="zh-CN" altLang="en-US" dirty="0"/>
              <a:t>  </a:t>
            </a:r>
            <a:r>
              <a:rPr lang="en-US" altLang="zh-CN" dirty="0"/>
              <a:t>- </a:t>
            </a:r>
            <a:r>
              <a:rPr lang="zh-CN" altLang="en-US" dirty="0"/>
              <a:t>增强进程</a:t>
            </a:r>
            <a:r>
              <a:rPr lang="en-US" altLang="zh-CN" dirty="0"/>
              <a:t>/</a:t>
            </a:r>
            <a:r>
              <a:rPr lang="zh-CN" altLang="en-US" dirty="0"/>
              <a:t>线程管理，完善</a:t>
            </a:r>
            <a:r>
              <a:rPr lang="en-US" altLang="zh-CN" dirty="0" err="1"/>
              <a:t>vma</a:t>
            </a:r>
            <a:r>
              <a:rPr lang="zh-CN" altLang="en-US" dirty="0"/>
              <a:t>复制、</a:t>
            </a:r>
            <a:r>
              <a:rPr lang="en-US" altLang="zh-CN" dirty="0" err="1"/>
              <a:t>set_tid_address</a:t>
            </a:r>
            <a:r>
              <a:rPr lang="zh-CN" altLang="en-US" dirty="0"/>
              <a:t>等细节。</a:t>
            </a:r>
          </a:p>
          <a:p>
            <a:pPr marL="0" indent="0">
              <a:lnSpc>
                <a:spcPct val="160000"/>
              </a:lnSpc>
              <a:buNone/>
            </a:pPr>
            <a:r>
              <a:rPr lang="zh-CN" altLang="en-US" dirty="0"/>
              <a:t>  </a:t>
            </a:r>
            <a:r>
              <a:rPr lang="en-US" altLang="zh-CN" dirty="0"/>
              <a:t>- </a:t>
            </a:r>
            <a:r>
              <a:rPr lang="zh-CN" altLang="en-US" dirty="0"/>
              <a:t>支持更多系统调用和</a:t>
            </a:r>
            <a:r>
              <a:rPr lang="en-US" altLang="zh-CN" dirty="0" err="1"/>
              <a:t>glibc</a:t>
            </a:r>
            <a:r>
              <a:rPr lang="zh-CN" altLang="en-US" dirty="0"/>
              <a:t>兼容性，尝试</a:t>
            </a:r>
            <a:r>
              <a:rPr lang="en-US" altLang="zh-CN" dirty="0" err="1"/>
              <a:t>musl</a:t>
            </a:r>
            <a:r>
              <a:rPr lang="zh-CN" altLang="en-US" dirty="0"/>
              <a:t>、</a:t>
            </a:r>
            <a:r>
              <a:rPr lang="en-US" altLang="zh-CN" dirty="0" err="1"/>
              <a:t>lua</a:t>
            </a:r>
            <a:r>
              <a:rPr lang="zh-CN" altLang="en-US" dirty="0"/>
              <a:t>脚本等测试点。</a:t>
            </a:r>
          </a:p>
          <a:p>
            <a:pPr>
              <a:lnSpc>
                <a:spcPct val="160000"/>
              </a:lnSpc>
            </a:pPr>
            <a:endParaRPr lang="zh-CN" altLang="en-US" dirty="0"/>
          </a:p>
        </p:txBody>
      </p:sp>
    </p:spTree>
    <p:extLst>
      <p:ext uri="{BB962C8B-B14F-4D97-AF65-F5344CB8AC3E}">
        <p14:creationId xmlns:p14="http://schemas.microsoft.com/office/powerpoint/2010/main" val="1447301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7D40E-E15C-EDA7-4DE2-05618F00899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4154CA-63F2-2CB5-D76E-6A4E79B4CA7E}"/>
              </a:ext>
            </a:extLst>
          </p:cNvPr>
          <p:cNvSpPr>
            <a:spLocks noGrp="1"/>
          </p:cNvSpPr>
          <p:nvPr>
            <p:ph type="title"/>
          </p:nvPr>
        </p:nvSpPr>
        <p:spPr/>
        <p:txBody>
          <a:bodyPr>
            <a:normAutofit/>
          </a:bodyPr>
          <a:lstStyle/>
          <a:p>
            <a:pPr lvl="1">
              <a:lnSpc>
                <a:spcPct val="150000"/>
              </a:lnSpc>
            </a:pPr>
            <a:r>
              <a:rPr lang="en-US" altLang="zh-CN" sz="4400" dirty="0">
                <a:latin typeface="+mj-lt"/>
              </a:rPr>
              <a:t>4. </a:t>
            </a:r>
            <a:r>
              <a:rPr lang="zh-CN" altLang="en-US" sz="4400" dirty="0">
                <a:latin typeface="+mj-lt"/>
              </a:rPr>
              <a:t>测试点攻关与稳定性提升阶段</a:t>
            </a:r>
            <a:endParaRPr lang="en-US" altLang="zh-CN" sz="4400" dirty="0">
              <a:latin typeface="+mj-lt"/>
            </a:endParaRPr>
          </a:p>
        </p:txBody>
      </p:sp>
      <p:sp>
        <p:nvSpPr>
          <p:cNvPr id="3" name="内容占位符 2">
            <a:extLst>
              <a:ext uri="{FF2B5EF4-FFF2-40B4-BE49-F238E27FC236}">
                <a16:creationId xmlns:a16="http://schemas.microsoft.com/office/drawing/2014/main" id="{61491F26-5362-1CD1-3D5B-BAFB9222D2F9}"/>
              </a:ext>
            </a:extLst>
          </p:cNvPr>
          <p:cNvSpPr>
            <a:spLocks noGrp="1"/>
          </p:cNvSpPr>
          <p:nvPr>
            <p:ph idx="1"/>
          </p:nvPr>
        </p:nvSpPr>
        <p:spPr>
          <a:xfrm>
            <a:off x="838200" y="1825624"/>
            <a:ext cx="10893136" cy="4782993"/>
          </a:xfrm>
        </p:spPr>
        <p:txBody>
          <a:bodyPr>
            <a:normAutofit fontScale="92500"/>
          </a:bodyPr>
          <a:lstStyle/>
          <a:p>
            <a:pPr marL="0" indent="0">
              <a:lnSpc>
                <a:spcPct val="160000"/>
              </a:lnSpc>
              <a:buNone/>
            </a:pPr>
            <a:r>
              <a:rPr lang="zh-CN" altLang="en-US" dirty="0"/>
              <a:t>集中在</a:t>
            </a:r>
            <a:r>
              <a:rPr lang="en-US" altLang="zh-CN" dirty="0"/>
              <a:t>6</a:t>
            </a:r>
            <a:r>
              <a:rPr lang="zh-CN" altLang="en-US" dirty="0"/>
              <a:t>月中旬 </a:t>
            </a:r>
            <a:r>
              <a:rPr lang="en-US" altLang="zh-CN" dirty="0"/>
              <a:t>~ 6</a:t>
            </a:r>
            <a:r>
              <a:rPr lang="zh-CN" altLang="en-US" dirty="0"/>
              <a:t>月底</a:t>
            </a:r>
          </a:p>
          <a:p>
            <a:pPr marL="0" indent="0">
              <a:lnSpc>
                <a:spcPct val="160000"/>
              </a:lnSpc>
              <a:buNone/>
            </a:pPr>
            <a:r>
              <a:rPr lang="zh-CN" altLang="en-US" b="1" dirty="0"/>
              <a:t>主要任务</a:t>
            </a:r>
            <a:r>
              <a:rPr lang="zh-CN" altLang="en-US" dirty="0"/>
              <a:t>：</a:t>
            </a:r>
          </a:p>
          <a:p>
            <a:pPr marL="0" indent="0">
              <a:lnSpc>
                <a:spcPct val="160000"/>
              </a:lnSpc>
              <a:buNone/>
            </a:pPr>
            <a:r>
              <a:rPr lang="zh-CN" altLang="en-US" dirty="0"/>
              <a:t>  </a:t>
            </a:r>
            <a:r>
              <a:rPr lang="en-US" altLang="zh-CN" dirty="0"/>
              <a:t>- </a:t>
            </a:r>
            <a:r>
              <a:rPr lang="zh-CN" altLang="en-US" dirty="0"/>
              <a:t>针对</a:t>
            </a:r>
            <a:r>
              <a:rPr lang="en-US" altLang="zh-CN" dirty="0"/>
              <a:t>basic</a:t>
            </a:r>
            <a:r>
              <a:rPr lang="zh-CN" altLang="en-US" dirty="0"/>
              <a:t>、</a:t>
            </a:r>
            <a:r>
              <a:rPr lang="en-US" altLang="zh-CN" dirty="0" err="1"/>
              <a:t>glibc</a:t>
            </a:r>
            <a:r>
              <a:rPr lang="zh-CN" altLang="en-US" dirty="0"/>
              <a:t>、</a:t>
            </a:r>
            <a:r>
              <a:rPr lang="en-US" altLang="zh-CN" dirty="0" err="1"/>
              <a:t>lua</a:t>
            </a:r>
            <a:r>
              <a:rPr lang="zh-CN" altLang="en-US" dirty="0"/>
              <a:t>等测试点逐步攻关，修复相关</a:t>
            </a:r>
            <a:r>
              <a:rPr lang="en-US" altLang="zh-CN" dirty="0"/>
              <a:t>bug</a:t>
            </a:r>
            <a:r>
              <a:rPr lang="zh-CN" altLang="en-US" dirty="0"/>
              <a:t>。</a:t>
            </a:r>
          </a:p>
          <a:p>
            <a:pPr marL="0" indent="0">
              <a:lnSpc>
                <a:spcPct val="160000"/>
              </a:lnSpc>
              <a:buNone/>
            </a:pPr>
            <a:r>
              <a:rPr lang="zh-CN" altLang="en-US" dirty="0"/>
              <a:t>  </a:t>
            </a:r>
            <a:r>
              <a:rPr lang="en-US" altLang="zh-CN" dirty="0"/>
              <a:t>- </a:t>
            </a:r>
            <a:r>
              <a:rPr lang="zh-CN" altLang="en-US" dirty="0"/>
              <a:t>优化系统调用实现，提升多线程</a:t>
            </a:r>
            <a:r>
              <a:rPr lang="en-US" altLang="zh-CN" dirty="0"/>
              <a:t>/</a:t>
            </a:r>
            <a:r>
              <a:rPr lang="zh-CN" altLang="en-US" dirty="0"/>
              <a:t>多进程兼容性。</a:t>
            </a:r>
          </a:p>
          <a:p>
            <a:pPr marL="0" indent="0">
              <a:lnSpc>
                <a:spcPct val="160000"/>
              </a:lnSpc>
              <a:buNone/>
            </a:pPr>
            <a:r>
              <a:rPr lang="zh-CN" altLang="en-US" dirty="0"/>
              <a:t>  </a:t>
            </a:r>
            <a:r>
              <a:rPr lang="en-US" altLang="zh-CN" dirty="0"/>
              <a:t>- </a:t>
            </a:r>
            <a:r>
              <a:rPr lang="zh-CN" altLang="en-US" dirty="0"/>
              <a:t>修复</a:t>
            </a:r>
            <a:r>
              <a:rPr lang="en-US" altLang="zh-CN" dirty="0"/>
              <a:t>du</a:t>
            </a:r>
            <a:r>
              <a:rPr lang="zh-CN" altLang="en-US" dirty="0"/>
              <a:t>死循环、标准流关闭、</a:t>
            </a:r>
            <a:r>
              <a:rPr lang="en-US" altLang="zh-CN" dirty="0" err="1"/>
              <a:t>busybox</a:t>
            </a:r>
            <a:r>
              <a:rPr lang="zh-CN" altLang="en-US" dirty="0"/>
              <a:t>识别等细节问题。</a:t>
            </a:r>
          </a:p>
          <a:p>
            <a:pPr marL="0" indent="0">
              <a:lnSpc>
                <a:spcPct val="160000"/>
              </a:lnSpc>
              <a:buNone/>
            </a:pPr>
            <a:r>
              <a:rPr lang="zh-CN" altLang="en-US" dirty="0"/>
              <a:t>  </a:t>
            </a:r>
            <a:r>
              <a:rPr lang="en-US" altLang="zh-CN" dirty="0"/>
              <a:t>- </a:t>
            </a:r>
            <a:r>
              <a:rPr lang="zh-CN" altLang="en-US" dirty="0"/>
              <a:t>持续提测，完善</a:t>
            </a:r>
            <a:r>
              <a:rPr lang="en-US" altLang="zh-CN" dirty="0" err="1"/>
              <a:t>ramnode</a:t>
            </a:r>
            <a:r>
              <a:rPr lang="zh-CN" altLang="en-US" dirty="0"/>
              <a:t>、</a:t>
            </a:r>
            <a:r>
              <a:rPr lang="en-US" altLang="zh-CN" dirty="0" err="1"/>
              <a:t>htree</a:t>
            </a:r>
            <a:r>
              <a:rPr lang="zh-CN" altLang="en-US" dirty="0"/>
              <a:t>、</a:t>
            </a:r>
            <a:r>
              <a:rPr lang="en-US" altLang="zh-CN" dirty="0"/>
              <a:t>pipe</a:t>
            </a:r>
            <a:r>
              <a:rPr lang="zh-CN" altLang="en-US" dirty="0"/>
              <a:t>等模块，提升整体稳定性和得分。</a:t>
            </a:r>
          </a:p>
        </p:txBody>
      </p:sp>
    </p:spTree>
    <p:extLst>
      <p:ext uri="{BB962C8B-B14F-4D97-AF65-F5344CB8AC3E}">
        <p14:creationId xmlns:p14="http://schemas.microsoft.com/office/powerpoint/2010/main" val="2020679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D28B4-0259-9249-7FF7-731DA52F00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3D996DC-749E-06EF-D648-D128469E35A7}"/>
              </a:ext>
            </a:extLst>
          </p:cNvPr>
          <p:cNvSpPr>
            <a:spLocks noGrp="1"/>
          </p:cNvSpPr>
          <p:nvPr>
            <p:ph type="title"/>
          </p:nvPr>
        </p:nvSpPr>
        <p:spPr/>
        <p:txBody>
          <a:bodyPr>
            <a:normAutofit/>
          </a:bodyPr>
          <a:lstStyle/>
          <a:p>
            <a:pPr lvl="1">
              <a:lnSpc>
                <a:spcPct val="150000"/>
              </a:lnSpc>
            </a:pPr>
            <a:r>
              <a:rPr lang="en-US" altLang="zh-CN" sz="4400" dirty="0">
                <a:latin typeface="+mj-lt"/>
              </a:rPr>
              <a:t>5. </a:t>
            </a:r>
            <a:r>
              <a:rPr lang="zh-CN" altLang="en-US" sz="4400" dirty="0">
                <a:latin typeface="+mj-lt"/>
              </a:rPr>
              <a:t>收尾与提测阶段</a:t>
            </a:r>
            <a:endParaRPr lang="en-US" altLang="zh-CN" sz="4400" dirty="0">
              <a:latin typeface="+mj-lt"/>
            </a:endParaRPr>
          </a:p>
        </p:txBody>
      </p:sp>
      <p:sp>
        <p:nvSpPr>
          <p:cNvPr id="3" name="内容占位符 2">
            <a:extLst>
              <a:ext uri="{FF2B5EF4-FFF2-40B4-BE49-F238E27FC236}">
                <a16:creationId xmlns:a16="http://schemas.microsoft.com/office/drawing/2014/main" id="{0FCC355E-B4AE-2F1C-67A5-3944632DC678}"/>
              </a:ext>
            </a:extLst>
          </p:cNvPr>
          <p:cNvSpPr>
            <a:spLocks noGrp="1"/>
          </p:cNvSpPr>
          <p:nvPr>
            <p:ph idx="1"/>
          </p:nvPr>
        </p:nvSpPr>
        <p:spPr>
          <a:xfrm>
            <a:off x="838200" y="1825624"/>
            <a:ext cx="10893136" cy="4782993"/>
          </a:xfrm>
        </p:spPr>
        <p:txBody>
          <a:bodyPr>
            <a:normAutofit/>
          </a:bodyPr>
          <a:lstStyle/>
          <a:p>
            <a:pPr marL="0" indent="0">
              <a:lnSpc>
                <a:spcPct val="160000"/>
              </a:lnSpc>
              <a:buNone/>
            </a:pPr>
            <a:r>
              <a:rPr lang="zh-CN" altLang="en-US" dirty="0"/>
              <a:t>集中在</a:t>
            </a:r>
            <a:r>
              <a:rPr lang="en-US" altLang="zh-CN" dirty="0"/>
              <a:t>6</a:t>
            </a:r>
            <a:r>
              <a:rPr lang="zh-CN" altLang="en-US" dirty="0"/>
              <a:t>月底</a:t>
            </a:r>
          </a:p>
          <a:p>
            <a:pPr marL="0" indent="0">
              <a:lnSpc>
                <a:spcPct val="160000"/>
              </a:lnSpc>
              <a:buNone/>
            </a:pPr>
            <a:r>
              <a:rPr lang="zh-CN" altLang="en-US" b="1" dirty="0"/>
              <a:t>主要任务</a:t>
            </a:r>
            <a:r>
              <a:rPr lang="zh-CN" altLang="en-US" dirty="0"/>
              <a:t>：</a:t>
            </a:r>
          </a:p>
          <a:p>
            <a:pPr marL="0" indent="0">
              <a:lnSpc>
                <a:spcPct val="160000"/>
              </a:lnSpc>
              <a:buNone/>
            </a:pPr>
            <a:r>
              <a:rPr lang="zh-CN" altLang="en-US" dirty="0"/>
              <a:t>  </a:t>
            </a:r>
            <a:r>
              <a:rPr lang="en-US" altLang="zh-CN" dirty="0"/>
              <a:t>- </a:t>
            </a:r>
            <a:r>
              <a:rPr lang="zh-CN" altLang="en-US" dirty="0"/>
              <a:t>多轮提测，集中修复遗留</a:t>
            </a:r>
            <a:r>
              <a:rPr lang="en-US" altLang="zh-CN" dirty="0"/>
              <a:t>bug</a:t>
            </a:r>
            <a:r>
              <a:rPr lang="zh-CN" altLang="en-US" dirty="0"/>
              <a:t>，确保各项功能通过评测。</a:t>
            </a:r>
          </a:p>
          <a:p>
            <a:pPr marL="0" indent="0">
              <a:lnSpc>
                <a:spcPct val="160000"/>
              </a:lnSpc>
              <a:buNone/>
            </a:pPr>
            <a:r>
              <a:rPr lang="zh-CN" altLang="en-US" dirty="0"/>
              <a:t>  </a:t>
            </a:r>
            <a:r>
              <a:rPr lang="en-US" altLang="zh-CN" dirty="0"/>
              <a:t>- </a:t>
            </a:r>
            <a:r>
              <a:rPr lang="zh-CN" altLang="en-US" dirty="0"/>
              <a:t>整理文档、完善开发流程、准备最终演示和交付材料。</a:t>
            </a:r>
          </a:p>
          <a:p>
            <a:pPr marL="0" indent="0">
              <a:lnSpc>
                <a:spcPct val="160000"/>
              </a:lnSpc>
              <a:buNone/>
            </a:pPr>
            <a:r>
              <a:rPr lang="zh-CN" altLang="en-US" dirty="0"/>
              <a:t>  </a:t>
            </a:r>
            <a:r>
              <a:rPr lang="en-US" altLang="zh-CN" dirty="0"/>
              <a:t>- </a:t>
            </a:r>
            <a:r>
              <a:rPr lang="zh-CN" altLang="en-US" dirty="0"/>
              <a:t>最后阶段尝试多线程支持、系统性能优化等。</a:t>
            </a:r>
          </a:p>
        </p:txBody>
      </p:sp>
    </p:spTree>
    <p:extLst>
      <p:ext uri="{BB962C8B-B14F-4D97-AF65-F5344CB8AC3E}">
        <p14:creationId xmlns:p14="http://schemas.microsoft.com/office/powerpoint/2010/main" val="2916195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657C-AEA4-6998-8BCE-3137EBC9BBB5}"/>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F896F5F0-42C9-873D-717D-4C92503A7AB9}"/>
              </a:ext>
            </a:extLst>
          </p:cNvPr>
          <p:cNvSpPr>
            <a:spLocks noGrp="1"/>
          </p:cNvSpPr>
          <p:nvPr>
            <p:ph type="title"/>
          </p:nvPr>
        </p:nvSpPr>
        <p:spPr>
          <a:xfrm>
            <a:off x="838200" y="2766218"/>
            <a:ext cx="10515600" cy="1325563"/>
          </a:xfrm>
        </p:spPr>
        <p:txBody>
          <a:bodyPr/>
          <a:lstStyle/>
          <a:p>
            <a:pPr algn="ctr"/>
            <a:r>
              <a:rPr lang="en-US" altLang="zh-CN" dirty="0"/>
              <a:t>2.</a:t>
            </a:r>
            <a:r>
              <a:rPr lang="zh-CN" altLang="en-US" dirty="0"/>
              <a:t>总结</a:t>
            </a:r>
          </a:p>
        </p:txBody>
      </p:sp>
    </p:spTree>
    <p:extLst>
      <p:ext uri="{BB962C8B-B14F-4D97-AF65-F5344CB8AC3E}">
        <p14:creationId xmlns:p14="http://schemas.microsoft.com/office/powerpoint/2010/main" val="1136944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9B4978-9B92-67EE-0F59-CF33141EFD36}"/>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13974584-A269-5E78-DCB0-E11FC2E7FC02}"/>
              </a:ext>
            </a:extLst>
          </p:cNvPr>
          <p:cNvSpPr>
            <a:spLocks noGrp="1"/>
          </p:cNvSpPr>
          <p:nvPr>
            <p:ph idx="1"/>
          </p:nvPr>
        </p:nvSpPr>
        <p:spPr/>
        <p:txBody>
          <a:bodyPr/>
          <a:lstStyle/>
          <a:p>
            <a:pPr marL="0" indent="0">
              <a:lnSpc>
                <a:spcPct val="200000"/>
              </a:lnSpc>
              <a:buNone/>
            </a:pPr>
            <a:r>
              <a:rPr lang="zh-CN" altLang="en-US" dirty="0"/>
              <a:t>开发过程经历了“架构移植→内核功能完善→文件系统与多进程支持→测试点攻关→收尾提测”五大阶段，每一阶段均有明确的主攻方向和任务，逐步实现了从底层硬件抽象到高层应用兼容的完整操作系统开发闭环。</a:t>
            </a:r>
          </a:p>
        </p:txBody>
      </p:sp>
    </p:spTree>
    <p:extLst>
      <p:ext uri="{BB962C8B-B14F-4D97-AF65-F5344CB8AC3E}">
        <p14:creationId xmlns:p14="http://schemas.microsoft.com/office/powerpoint/2010/main" val="103085885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20</TotalTime>
  <Words>637</Words>
  <Application>Microsoft Office PowerPoint</Application>
  <PresentationFormat>宽屏</PresentationFormat>
  <Paragraphs>51</Paragraphs>
  <Slides>11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11</vt:i4>
      </vt:variant>
    </vt:vector>
  </HeadingPairs>
  <TitlesOfParts>
    <vt:vector size="15" baseType="lpstr">
      <vt:lpstr>等线</vt:lpstr>
      <vt:lpstr>等线 Light</vt:lpstr>
      <vt:lpstr>Arial</vt:lpstr>
      <vt:lpstr>Office 主题​​</vt:lpstr>
      <vt:lpstr>操作系统内核开发日志</vt:lpstr>
      <vt:lpstr>目录</vt:lpstr>
      <vt:lpstr>1.开发阶段概括与分析</vt:lpstr>
      <vt:lpstr>PowerPoint 演示文稿</vt:lpstr>
      <vt:lpstr>1.初始架构与基础移植阶段</vt:lpstr>
      <vt:lpstr>2. 内核功能完善与兼容性阶段</vt:lpstr>
      <vt:lpstr>3. 文件系统与多进程/多线程支持阶段</vt:lpstr>
      <vt:lpstr>4. 测试点攻关与稳定性提升阶段</vt:lpstr>
      <vt:lpstr>5. 收尾与提测阶段</vt:lpstr>
      <vt:lpstr>2.总结</vt:lpstr>
      <vt:lpstr>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明 李</dc:creator>
  <cp:lastModifiedBy>明 李</cp:lastModifiedBy>
  <cp:revision>15</cp:revision>
  <dcterms:created xsi:type="dcterms:W3CDTF">2025-06-30T12:04:53Z</dcterms:created>
  <dcterms:modified xsi:type="dcterms:W3CDTF">2025-06-30T12:25:46Z</dcterms:modified>
</cp:coreProperties>
</file>